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"/>
      <p:regular r:id="rId16"/>
      <p:bold r:id="rId17"/>
      <p:italic r:id="rId18"/>
      <p:boldItalic r:id="rId19"/>
    </p:embeddedFont>
    <p:embeddedFont>
      <p:font typeface="Fira Cod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Cod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FiraCod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33f5b5b2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a33f5b5b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33f5b5b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9a33f5b5b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33f5b5b2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a33f5b5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a33f5b5b2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a33f5b5b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6.jp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El C</a:t>
            </a: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aso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Negreira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571500" y="2019300"/>
            <a:ext cx="55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71500" y="3962400"/>
            <a:ext cx="17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➤</a:t>
            </a:r>
            <a:endParaRPr/>
          </a:p>
        </p:txBody>
      </p:sp>
      <p:pic>
        <p:nvPicPr>
          <p:cNvPr id="93" name="Google Shape;93;p14" title="IMG_1CFF268BC436-1.jpeg"/>
          <p:cNvPicPr preferRelativeResize="0"/>
          <p:nvPr/>
        </p:nvPicPr>
        <p:blipFill rotWithShape="1">
          <a:blip r:embed="rId4">
            <a:alphaModFix/>
          </a:blip>
          <a:srcRect b="2827" l="0" r="0" t="0"/>
          <a:stretch/>
        </p:blipFill>
        <p:spPr>
          <a:xfrm>
            <a:off x="6537367" y="1361325"/>
            <a:ext cx="5205958" cy="413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iero un slide que explique la situación de Negreira en general. Hazlo sobre esta base. Los pagos fueron de 1993-2018 no de 2001-2018. Explica los pagos y la investigación abierta actualmente, el cargo que tenía negreira, y cuánto dinero se le pagó. Además menciona la justificación &quot;oficial&quot;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4085" t="19620"/>
          <a:stretch/>
        </p:blipFill>
        <p:spPr>
          <a:xfrm>
            <a:off x="0" y="1361313"/>
            <a:ext cx="6361524" cy="296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4763" y="4120125"/>
            <a:ext cx="45720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5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La Solución: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Triple Dif</a:t>
            </a: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 in Diff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(DDD)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571500" y="2006054"/>
            <a:ext cx="5500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Lógica del Contrafa</a:t>
            </a: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</a:t>
            </a: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tual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571500" y="2520404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Necesitamos aislar el rendimiento que es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específico de la competición doméstica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y que no puede explicarse por el talento.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905500" y="2501370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Comparamos la "brecha de rendimiento" (España menos Europa) del Barcelona contra la misma brecha de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los otros equipos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6319275" y="5379844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Supuesto: El </a:t>
            </a:r>
            <a:r>
              <a:rPr i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choque de talento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mejora el rendimiento en ambas competiciones. El "Efecto Negreira" solo en La Liga. Lo </a:t>
            </a:r>
            <a:r>
              <a:rPr i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árbitros de la UEFA y de la RFEF no son los mismos.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700"/>
          </a:p>
        </p:txBody>
      </p:sp>
      <p:sp>
        <p:nvSpPr>
          <p:cNvPr id="111" name="Google Shape;111;p16"/>
          <p:cNvSpPr txBox="1"/>
          <p:nvPr/>
        </p:nvSpPr>
        <p:spPr>
          <a:xfrm>
            <a:off x="640188" y="5148844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Diferencia 1 (Tiempo):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Periodo Negreira vs. Pre-Negreira.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640200" y="5564494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Diferencia 2 (Equipo):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FC Barcelona vs. 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Control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640200" y="5980144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Diferencia 3 (Competición):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Liga (Tratado) vs. Champions League (Placebo).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381750" y="2651819"/>
            <a:ext cx="1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6381750" y="3947219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➤</a:t>
            </a:r>
            <a:endParaRPr/>
          </a:p>
        </p:txBody>
      </p:sp>
      <p:pic>
        <p:nvPicPr>
          <p:cNvPr id="116" name="Google Shape;116;p16" title="Captura de pantalla 2025-12-01 a la(s) 2.08.20 a.m..png"/>
          <p:cNvPicPr preferRelativeResize="0"/>
          <p:nvPr/>
        </p:nvPicPr>
        <p:blipFill rotWithShape="1">
          <a:blip r:embed="rId4">
            <a:alphaModFix/>
          </a:blip>
          <a:srcRect b="0" l="5802" r="4927" t="0"/>
          <a:stretch/>
        </p:blipFill>
        <p:spPr>
          <a:xfrm>
            <a:off x="1377450" y="3662900"/>
            <a:ext cx="9466400" cy="110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grega íconos y haz el slide más bonito"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0850"/>
            <a:ext cx="349240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990850"/>
            <a:ext cx="3492549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990850"/>
            <a:ext cx="349240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571500" y="381000"/>
            <a:ext cx="1160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Expandimos la muestra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Controles que </a:t>
            </a: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afectan decisiones arbitrales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571500" y="20955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 utilizar el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Universo Completo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partidos (N ≈ 15,000) y maximizar la potencia, controlamos matemáticamente las diferencias entre un partido contra el Getafe y uno contra el Bayern.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895350" y="3771900"/>
            <a:ext cx="3026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Talento Esperado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895350" y="4286250"/>
            <a:ext cx="2882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Probabilidad Implicada de Victoria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(de las Casas de Apuestas). Estandariza la "Expectativa" de ganar.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4673500" y="3771900"/>
            <a:ext cx="30270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Estilo de Juego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4673500" y="4286250"/>
            <a:ext cx="28829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Posesión Media (Lag)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Promedio de la temporada hasta la fecha. Controla el sesgo de posesión de forma exógena.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8451800" y="3771900"/>
            <a:ext cx="3026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Intensidad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8451800" y="4286250"/>
            <a:ext cx="288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Variable "High Stakes"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Binaria para Derbis/Clásicos (Doméstico) y Eliminatorias (Europa).</a:t>
            </a:r>
            <a:endParaRPr/>
          </a:p>
        </p:txBody>
      </p:sp>
      <p:pic>
        <p:nvPicPr>
          <p:cNvPr descr="image.png" id="138" name="Google Shape;13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32861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3500" y="32861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1800" y="3286125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Especificación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Econométrica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6381750" y="1547825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Interpretación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6381750" y="203922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βDDD: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El estimador de interés. Captura la "Distorsión Doméstica Inexplicable".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6381750" y="2807813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Vectores de Control (γ):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Absorben las diferencias de talento, estilo y presión.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6381750" y="48515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εitc: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Error estándar agrupado (Clustered) a nivel de equipo.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6381750" y="3098750"/>
            <a:ext cx="1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6381750" y="3933825"/>
            <a:ext cx="1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6381750" y="5133250"/>
            <a:ext cx="3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7813"/>
            <a:ext cx="523875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1733550" y="3429000"/>
            <a:ext cx="38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9A9A"/>
                </a:solidFill>
                <a:latin typeface="Fira Code"/>
                <a:ea typeface="Fira Code"/>
                <a:cs typeface="Fira Code"/>
                <a:sym typeface="Fira Code"/>
              </a:rPr>
              <a:t>θFE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6283688" y="3646500"/>
            <a:ext cx="4874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θFE: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Efectos Fijos. Absorbe tendencias temporales y heterogeneidad invariante (Equipo, Temporada, Competición y sus pares).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71500" y="4389875"/>
            <a:ext cx="48744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Recap Supuestos Y1</a:t>
            </a: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-"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Goal Index captura verdaderamente el efecto del 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árbitro en el juego. </a:t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-"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Controles son suficientes y exógenos.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Opción 2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Residuales de Apuestas</a:t>
            </a:r>
            <a:endParaRPr/>
          </a:p>
        </p:txBody>
      </p:sp>
      <p:pic>
        <p:nvPicPr>
          <p:cNvPr descr="image.png" id="165" name="Google Shape;16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571625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6451775" y="1596263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Medimos el rendimiento sobre la expectativa del mercado (Win Probability).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667500" y="3638550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mercado de apuestas agrega toda la información pública (Lesiones, Alineaciones, Motivación).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667500" y="4509800"/>
            <a:ext cx="5350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mercado "descuenta" 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diferencia de talento o estilo de juego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667500" y="52292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 el Barcelona gana sistemáticamente más de lo que predice el "dinero inteligente", pero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solo en España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el residuo es la corrupción.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381725" y="3638325"/>
            <a:ext cx="17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➤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381600" y="4484625"/>
            <a:ext cx="17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➤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381750" y="522922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➤</a:t>
            </a:r>
            <a:endParaRPr/>
          </a:p>
        </p:txBody>
      </p:sp>
      <p:pic>
        <p:nvPicPr>
          <p:cNvPr id="173" name="Google Shape;173;p20" title="Captura de pantalla 2025-12-01 a la(s) 2.39.38 a.m.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1769" y="2514600"/>
            <a:ext cx="5006558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5525"/>
            <a:ext cx="34924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95525"/>
            <a:ext cx="3492549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295525"/>
            <a:ext cx="34924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3500" y="2581275"/>
            <a:ext cx="2882949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571500" y="381000"/>
            <a:ext cx="805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Supuestos del</a:t>
            </a: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diseño Triple Diff in Diff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895350" y="3076575"/>
            <a:ext cx="3026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SUTVA (Suma Cero)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895350" y="3590925"/>
            <a:ext cx="2882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Asumimos que la violación de SUTVA es una característica, no un error. Medimos la "Distorsión Total de la Liga" (Beneficio Barca + Daño Rival).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4673500" y="3076575"/>
            <a:ext cx="30270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Tendencias Paralelas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673500" y="3590925"/>
            <a:ext cx="28829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Validamos con un "Estudio de Eventos" en la era Pre-Messi (1993-2004). Si hay efecto aquí, el argumento de Messi queda descartado.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8451800" y="3076575"/>
            <a:ext cx="3026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Exogeneidad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8451800" y="3590925"/>
            <a:ext cx="2882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Asumimos que Negreira no tenía influencia sobre los árbitros de la UEFA (Champions League como Placebo válido).</a:t>
            </a:r>
            <a:endParaRPr/>
          </a:p>
        </p:txBody>
      </p:sp>
      <p:pic>
        <p:nvPicPr>
          <p:cNvPr descr="image.png" id="190" name="Google Shape;19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350" y="259080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1800" y="259080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Análisis de Potencia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(MDE)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1377750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Muestra "Euro-Fighters"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2138363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 ≈ 2,000 partidos.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258352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Alta validez interna (comparación exacta), pero menor potencia estadística.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381750" y="1377375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Muestra Completa (Full Universe)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381750" y="2101475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 ≈ 15,000 partidos.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381750" y="258352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Potencia maximizada mediante controles de "Probabilidad de Victoria".</a:t>
            </a:r>
            <a:endParaRPr/>
          </a:p>
        </p:txBody>
      </p:sp>
      <p:pic>
        <p:nvPicPr>
          <p:cNvPr id="204" name="Google Shape;204;p22" title="Captura de pantalla 2025-12-01 a la(s) 3.02.37 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750" y="3588325"/>
            <a:ext cx="5238899" cy="121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title="Captura de pantalla 2025-12-01 a la(s) 3.09.47 a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900" y="3574299"/>
            <a:ext cx="5708100" cy="2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